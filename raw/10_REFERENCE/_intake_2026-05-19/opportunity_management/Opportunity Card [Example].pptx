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  <p:sldMasterId id="2147483696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E296D8-46DA-4088-BFBC-BE9710407564}">
  <a:tblStyle styleId="{70E296D8-46DA-4088-BFBC-BE97104075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5179a7191_0_4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25179a719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25179a7191_0_4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5179a7191_0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25179a7191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25179a7191_0_4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ll Image">
  <p:cSld name="Fill Imag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bjec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E8E8E"/>
              </a:buClr>
              <a:buSzPts val="1800"/>
              <a:buNone/>
              <a:defRPr sz="1800">
                <a:solidFill>
                  <a:srgbClr val="8E8E8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500"/>
              <a:buNone/>
              <a:defRPr sz="1500">
                <a:solidFill>
                  <a:srgbClr val="8E8E8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350"/>
              <a:buNone/>
              <a:defRPr sz="1350">
                <a:solidFill>
                  <a:srgbClr val="8E8E8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E8E8E"/>
              </a:buClr>
              <a:buSzPts val="1200"/>
              <a:buNone/>
              <a:defRPr sz="1200">
                <a:solidFill>
                  <a:srgbClr val="8E8E8E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Object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Heading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gned Object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awing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2" name="Google Shape;112;p23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heading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Fill Image">
  <p:cSld name="3_Fill Imag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>
            <p:ph idx="2" type="pic"/>
          </p:nvPr>
        </p:nvSpPr>
        <p:spPr>
          <a:xfrm>
            <a:off x="-131625" y="2123768"/>
            <a:ext cx="9407100" cy="31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Fill Image">
  <p:cSld name="6_Fill Imag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/>
          <p:nvPr>
            <p:ph idx="2" type="pic"/>
          </p:nvPr>
        </p:nvSpPr>
        <p:spPr>
          <a:xfrm>
            <a:off x="0" y="0"/>
            <a:ext cx="9144000" cy="338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Fill Image">
  <p:cSld name="7_Fill Imag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/>
          <p:nvPr>
            <p:ph idx="2" type="pic"/>
          </p:nvPr>
        </p:nvSpPr>
        <p:spPr>
          <a:xfrm>
            <a:off x="-131625" y="-141889"/>
            <a:ext cx="9407100" cy="3835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3" name="Google Shape;133;p28"/>
          <p:cNvSpPr/>
          <p:nvPr>
            <p:ph idx="3" type="pic"/>
          </p:nvPr>
        </p:nvSpPr>
        <p:spPr>
          <a:xfrm>
            <a:off x="826291" y="2680854"/>
            <a:ext cx="3624900" cy="2026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4" name="Google Shape;134;p28"/>
          <p:cNvSpPr/>
          <p:nvPr>
            <p:ph idx="4" type="pic"/>
          </p:nvPr>
        </p:nvSpPr>
        <p:spPr>
          <a:xfrm>
            <a:off x="4692934" y="2680854"/>
            <a:ext cx="3624900" cy="2026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Fill Image">
  <p:cSld name="8_Fill Imag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/>
          <p:nvPr>
            <p:ph idx="2" type="pic"/>
          </p:nvPr>
        </p:nvSpPr>
        <p:spPr>
          <a:xfrm>
            <a:off x="0" y="1754798"/>
            <a:ext cx="9144000" cy="3388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Fill Image">
  <p:cSld name="9_Fill Imag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>
            <p:ph idx="2" type="pic"/>
          </p:nvPr>
        </p:nvSpPr>
        <p:spPr>
          <a:xfrm>
            <a:off x="0" y="0"/>
            <a:ext cx="9144000" cy="2852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Fill Image">
  <p:cSld name="10_Fill Imag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/>
          <p:nvPr>
            <p:ph idx="2" type="pic"/>
          </p:nvPr>
        </p:nvSpPr>
        <p:spPr>
          <a:xfrm>
            <a:off x="0" y="2290974"/>
            <a:ext cx="9144000" cy="2852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Fill Image">
  <p:cSld name="11_Fill Imag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>
            <p:ph idx="2" type="pic"/>
          </p:nvPr>
        </p:nvSpPr>
        <p:spPr>
          <a:xfrm>
            <a:off x="0" y="0"/>
            <a:ext cx="9144000" cy="2847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Fill Image">
  <p:cSld name="21_Fill Imag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/>
          <p:nvPr>
            <p:ph idx="2" type="pic"/>
          </p:nvPr>
        </p:nvSpPr>
        <p:spPr>
          <a:xfrm>
            <a:off x="4984064" y="439341"/>
            <a:ext cx="3682500" cy="42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Fill Image">
  <p:cSld name="23_Fill Image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/>
          <p:nvPr>
            <p:ph idx="2" type="pic"/>
          </p:nvPr>
        </p:nvSpPr>
        <p:spPr>
          <a:xfrm>
            <a:off x="693601" y="2125512"/>
            <a:ext cx="1939200" cy="1938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7" name="Google Shape;147;p34"/>
          <p:cNvSpPr/>
          <p:nvPr>
            <p:ph idx="3" type="pic"/>
          </p:nvPr>
        </p:nvSpPr>
        <p:spPr>
          <a:xfrm>
            <a:off x="4572000" y="2125512"/>
            <a:ext cx="1939200" cy="1938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Fill Image">
  <p:cSld name="24_Fill Imag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/>
          <p:nvPr>
            <p:ph idx="2" type="pic"/>
          </p:nvPr>
        </p:nvSpPr>
        <p:spPr>
          <a:xfrm>
            <a:off x="450316" y="2611096"/>
            <a:ext cx="4083600" cy="20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0" name="Google Shape;150;p35"/>
          <p:cNvSpPr/>
          <p:nvPr>
            <p:ph idx="3" type="pic"/>
          </p:nvPr>
        </p:nvSpPr>
        <p:spPr>
          <a:xfrm>
            <a:off x="4610050" y="455055"/>
            <a:ext cx="4083600" cy="20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Fill Image">
  <p:cSld name="27_Fill Image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"/>
          <p:cNvSpPr/>
          <p:nvPr>
            <p:ph idx="2" type="pic"/>
          </p:nvPr>
        </p:nvSpPr>
        <p:spPr>
          <a:xfrm>
            <a:off x="0" y="0"/>
            <a:ext cx="4194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Fill Image">
  <p:cSld name="28_Fill Imag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7"/>
          <p:cNvSpPr/>
          <p:nvPr>
            <p:ph idx="2" type="pic"/>
          </p:nvPr>
        </p:nvSpPr>
        <p:spPr>
          <a:xfrm>
            <a:off x="450316" y="455055"/>
            <a:ext cx="4083600" cy="20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5" name="Google Shape;155;p37"/>
          <p:cNvSpPr/>
          <p:nvPr>
            <p:ph idx="3" type="pic"/>
          </p:nvPr>
        </p:nvSpPr>
        <p:spPr>
          <a:xfrm>
            <a:off x="4610050" y="2611096"/>
            <a:ext cx="4083600" cy="20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Fill Image">
  <p:cSld name="29_Fill Imag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8"/>
          <p:cNvSpPr/>
          <p:nvPr>
            <p:ph idx="2" type="pic"/>
          </p:nvPr>
        </p:nvSpPr>
        <p:spPr>
          <a:xfrm>
            <a:off x="4949526" y="0"/>
            <a:ext cx="4194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Fill Image">
  <p:cSld name="30_Fill Image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/>
          <p:nvPr>
            <p:ph idx="2" type="pic"/>
          </p:nvPr>
        </p:nvSpPr>
        <p:spPr>
          <a:xfrm>
            <a:off x="6173807" y="0"/>
            <a:ext cx="2970300" cy="49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Fill Image">
  <p:cSld name="31_Fill Imag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0"/>
          <p:cNvSpPr/>
          <p:nvPr>
            <p:ph idx="2" type="pic"/>
          </p:nvPr>
        </p:nvSpPr>
        <p:spPr>
          <a:xfrm>
            <a:off x="-1" y="0"/>
            <a:ext cx="4572000" cy="49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Fill Image">
  <p:cSld name="32_Fill Imag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Fill Image">
  <p:cSld name="33_Fill Image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"/>
          <p:cNvSpPr/>
          <p:nvPr>
            <p:ph idx="2" type="pic"/>
          </p:nvPr>
        </p:nvSpPr>
        <p:spPr>
          <a:xfrm>
            <a:off x="4411224" y="0"/>
            <a:ext cx="4732800" cy="337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Fill Image">
  <p:cSld name="34_Fill Imag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/>
          <p:nvPr>
            <p:ph idx="2" type="pic"/>
          </p:nvPr>
        </p:nvSpPr>
        <p:spPr>
          <a:xfrm>
            <a:off x="603760" y="1767810"/>
            <a:ext cx="4424400" cy="2509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Fill Image">
  <p:cSld name="35_Fill Imag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"/>
          <p:cNvSpPr/>
          <p:nvPr>
            <p:ph idx="2" type="pic"/>
          </p:nvPr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0" name="Google Shape;170;p44"/>
          <p:cNvSpPr/>
          <p:nvPr>
            <p:ph idx="3" type="pic"/>
          </p:nvPr>
        </p:nvSpPr>
        <p:spPr>
          <a:xfrm>
            <a:off x="3047999" y="0"/>
            <a:ext cx="304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1" name="Google Shape;171;p44"/>
          <p:cNvSpPr/>
          <p:nvPr>
            <p:ph idx="4" type="pic"/>
          </p:nvPr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Fill Image">
  <p:cSld name="36_Fill Imag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5"/>
          <p:cNvSpPr/>
          <p:nvPr>
            <p:ph idx="2" type="pic"/>
          </p:nvPr>
        </p:nvSpPr>
        <p:spPr>
          <a:xfrm>
            <a:off x="0" y="2571749"/>
            <a:ext cx="35523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4" name="Google Shape;174;p45"/>
          <p:cNvSpPr/>
          <p:nvPr>
            <p:ph idx="3" type="pic"/>
          </p:nvPr>
        </p:nvSpPr>
        <p:spPr>
          <a:xfrm>
            <a:off x="3552389" y="-2"/>
            <a:ext cx="55917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Fill Image">
  <p:cSld name="37_Fill Imag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6"/>
          <p:cNvSpPr/>
          <p:nvPr>
            <p:ph idx="2" type="pic"/>
          </p:nvPr>
        </p:nvSpPr>
        <p:spPr>
          <a:xfrm>
            <a:off x="5591611" y="0"/>
            <a:ext cx="35523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7" name="Google Shape;177;p46"/>
          <p:cNvSpPr/>
          <p:nvPr>
            <p:ph idx="3" type="pic"/>
          </p:nvPr>
        </p:nvSpPr>
        <p:spPr>
          <a:xfrm>
            <a:off x="0" y="2571749"/>
            <a:ext cx="55917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Fill Image">
  <p:cSld name="39_Fill Imag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/>
          <p:nvPr>
            <p:ph idx="2" type="pic"/>
          </p:nvPr>
        </p:nvSpPr>
        <p:spPr>
          <a:xfrm>
            <a:off x="4012975" y="929149"/>
            <a:ext cx="1852200" cy="3249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Fill Image">
  <p:cSld name="41_Fill Image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8"/>
          <p:cNvSpPr/>
          <p:nvPr>
            <p:ph idx="2" type="pic"/>
          </p:nvPr>
        </p:nvSpPr>
        <p:spPr>
          <a:xfrm>
            <a:off x="5642472" y="958620"/>
            <a:ext cx="2559600" cy="33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Fill Image">
  <p:cSld name="43_Fill Imag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9"/>
          <p:cNvSpPr/>
          <p:nvPr>
            <p:ph idx="2" type="pic"/>
          </p:nvPr>
        </p:nvSpPr>
        <p:spPr>
          <a:xfrm>
            <a:off x="6891000" y="2353616"/>
            <a:ext cx="1101300" cy="1356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4" name="Google Shape;184;p49"/>
          <p:cNvSpPr/>
          <p:nvPr>
            <p:ph idx="3" type="pic"/>
          </p:nvPr>
        </p:nvSpPr>
        <p:spPr>
          <a:xfrm>
            <a:off x="4623056" y="2353616"/>
            <a:ext cx="1101300" cy="1356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5" name="Google Shape;185;p49"/>
          <p:cNvSpPr/>
          <p:nvPr>
            <p:ph idx="4" type="pic"/>
          </p:nvPr>
        </p:nvSpPr>
        <p:spPr>
          <a:xfrm>
            <a:off x="5644668" y="2285530"/>
            <a:ext cx="1316700" cy="14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"/>
              <a:buNone/>
              <a:defRPr b="1" i="0" sz="3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35887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3588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0"/>
          <p:cNvSpPr/>
          <p:nvPr/>
        </p:nvSpPr>
        <p:spPr>
          <a:xfrm>
            <a:off x="253200" y="289050"/>
            <a:ext cx="8637600" cy="45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50"/>
          <p:cNvSpPr txBox="1"/>
          <p:nvPr/>
        </p:nvSpPr>
        <p:spPr>
          <a:xfrm>
            <a:off x="387575" y="518875"/>
            <a:ext cx="8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lang="en-GB" sz="1500">
                <a:solidFill>
                  <a:schemeClr val="accent4"/>
                </a:solidFill>
              </a:rPr>
              <a:t>ID | SOLUTION TITLE</a:t>
            </a:r>
            <a:endParaRPr b="1" sz="1500">
              <a:solidFill>
                <a:schemeClr val="accent4"/>
              </a:solidFill>
            </a:endParaRPr>
          </a:p>
        </p:txBody>
      </p:sp>
      <p:sp>
        <p:nvSpPr>
          <p:cNvPr id="193" name="Google Shape;193;p50"/>
          <p:cNvSpPr txBox="1"/>
          <p:nvPr/>
        </p:nvSpPr>
        <p:spPr>
          <a:xfrm>
            <a:off x="253200" y="4608150"/>
            <a:ext cx="100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GB" sz="1000">
                <a:solidFill>
                  <a:srgbClr val="AFAFAF"/>
                </a:solidFill>
                <a:latin typeface="Lato"/>
                <a:ea typeface="Lato"/>
                <a:cs typeface="Lato"/>
                <a:sym typeface="Lato"/>
              </a:rPr>
              <a:t>The AI Edge</a:t>
            </a:r>
            <a:r>
              <a:rPr b="1" i="1" lang="en-GB" sz="1000" u="none" cap="none" strike="noStrike">
                <a:solidFill>
                  <a:srgbClr val="AFAFAF"/>
                </a:solidFill>
                <a:latin typeface="Lato"/>
                <a:ea typeface="Lato"/>
                <a:cs typeface="Lato"/>
                <a:sym typeface="Lato"/>
              </a:rPr>
              <a:t>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0"/>
          <p:cNvSpPr txBox="1"/>
          <p:nvPr/>
        </p:nvSpPr>
        <p:spPr>
          <a:xfrm>
            <a:off x="387575" y="794650"/>
            <a:ext cx="8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i="1" lang="en-GB" sz="1100">
                <a:solidFill>
                  <a:srgbClr val="AFAFAF"/>
                </a:solidFill>
              </a:rPr>
              <a:t>Description of the solution</a:t>
            </a:r>
            <a:endParaRPr i="1" sz="1100">
              <a:solidFill>
                <a:srgbClr val="AFAFAF"/>
              </a:solidFill>
            </a:endParaRPr>
          </a:p>
        </p:txBody>
      </p:sp>
      <p:sp>
        <p:nvSpPr>
          <p:cNvPr id="195" name="Google Shape;195;p50"/>
          <p:cNvSpPr txBox="1"/>
          <p:nvPr/>
        </p:nvSpPr>
        <p:spPr>
          <a:xfrm>
            <a:off x="7118800" y="518875"/>
            <a:ext cx="99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1" lang="en-GB" sz="1500">
                <a:solidFill>
                  <a:srgbClr val="8E8E8E"/>
                </a:solidFill>
              </a:rPr>
              <a:t>Example</a:t>
            </a:r>
            <a:endParaRPr b="1" i="1" sz="1500">
              <a:solidFill>
                <a:srgbClr val="8E8E8E"/>
              </a:solidFill>
            </a:endParaRPr>
          </a:p>
        </p:txBody>
      </p:sp>
      <p:pic>
        <p:nvPicPr>
          <p:cNvPr id="196" name="Google Shape;196;p50"/>
          <p:cNvPicPr preferRelativeResize="0"/>
          <p:nvPr/>
        </p:nvPicPr>
        <p:blipFill rotWithShape="1">
          <a:blip r:embed="rId4">
            <a:alphaModFix/>
          </a:blip>
          <a:srcRect b="11802" l="12221" r="12664" t="11809"/>
          <a:stretch/>
        </p:blipFill>
        <p:spPr>
          <a:xfrm>
            <a:off x="8166957" y="423425"/>
            <a:ext cx="590400" cy="60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7" name="Google Shape;197;p50"/>
          <p:cNvSpPr/>
          <p:nvPr/>
        </p:nvSpPr>
        <p:spPr>
          <a:xfrm>
            <a:off x="3459550" y="1453242"/>
            <a:ext cx="4494000" cy="3126000"/>
          </a:xfrm>
          <a:prstGeom prst="rect">
            <a:avLst/>
          </a:prstGeom>
          <a:solidFill>
            <a:srgbClr val="E8F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50"/>
          <p:cNvSpPr txBox="1"/>
          <p:nvPr/>
        </p:nvSpPr>
        <p:spPr>
          <a:xfrm>
            <a:off x="4395375" y="2704863"/>
            <a:ext cx="1916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700">
                <a:solidFill>
                  <a:schemeClr val="dk1"/>
                </a:solidFill>
              </a:rPr>
              <a:t>Changes Required:</a:t>
            </a:r>
            <a:endParaRPr b="1" i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700"/>
              <a:buChar char="●"/>
            </a:pPr>
            <a:r>
              <a:rPr lang="en-GB" sz="700">
                <a:solidFill>
                  <a:srgbClr val="0000FF"/>
                </a:solidFill>
              </a:rPr>
              <a:t>Point 1</a:t>
            </a:r>
            <a:endParaRPr sz="700">
              <a:solidFill>
                <a:srgbClr val="0000F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700"/>
              <a:buChar char="●"/>
            </a:pPr>
            <a:r>
              <a:rPr lang="en-GB" sz="700">
                <a:solidFill>
                  <a:srgbClr val="0000FF"/>
                </a:solidFill>
              </a:rPr>
              <a:t>Point 2</a:t>
            </a:r>
            <a:endParaRPr sz="700">
              <a:solidFill>
                <a:srgbClr val="0000F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700"/>
              <a:buChar char="●"/>
            </a:pPr>
            <a:r>
              <a:rPr lang="en-GB" sz="700">
                <a:solidFill>
                  <a:srgbClr val="0000FF"/>
                </a:solidFill>
              </a:rPr>
              <a:t>Point 3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42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Expected Benefits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Time Saving: </a:t>
            </a:r>
            <a:r>
              <a:rPr lang="en-GB" sz="700">
                <a:solidFill>
                  <a:srgbClr val="0000FF"/>
                </a:solidFill>
              </a:rPr>
              <a:t>&lt;&gt;</a:t>
            </a:r>
            <a:endParaRPr sz="700">
              <a:solidFill>
                <a:srgbClr val="0000F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Cost Saving: </a:t>
            </a:r>
            <a:r>
              <a:rPr lang="en-GB" sz="700">
                <a:solidFill>
                  <a:srgbClr val="0000FF"/>
                </a:solidFill>
              </a:rPr>
              <a:t>&lt;Value&gt;</a:t>
            </a:r>
            <a:endParaRPr sz="700">
              <a:solidFill>
                <a:srgbClr val="0000F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FTE Equivalent: </a:t>
            </a:r>
            <a:r>
              <a:rPr lang="en-GB" sz="700">
                <a:solidFill>
                  <a:srgbClr val="0000FF"/>
                </a:solidFill>
              </a:rPr>
              <a:t>&lt;FTE&gt;</a:t>
            </a:r>
            <a:endParaRPr sz="700">
              <a:solidFill>
                <a:srgbClr val="0000FF"/>
              </a:solidFill>
            </a:endParaRPr>
          </a:p>
        </p:txBody>
      </p:sp>
      <p:graphicFrame>
        <p:nvGraphicFramePr>
          <p:cNvPr id="199" name="Google Shape;199;p50"/>
          <p:cNvGraphicFramePr/>
          <p:nvPr/>
        </p:nvGraphicFramePr>
        <p:xfrm>
          <a:off x="6363650" y="1857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{70E296D8-46DA-4088-BFBC-BE9710407564}</a:tableStyleId>
              </a:tblPr>
              <a:tblGrid>
                <a:gridCol w="632750"/>
                <a:gridCol w="896250"/>
              </a:tblGrid>
              <a:tr h="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AI / Automation / Chatbot</a:t>
                      </a:r>
                      <a:endParaRPr i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Feasibility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High/Medium/Low</a:t>
                      </a:r>
                      <a:endParaRPr i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Expected Benefits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Green/Amber/</a:t>
                      </a:r>
                      <a:endParaRPr i="1" sz="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Red</a:t>
                      </a:r>
                      <a:endParaRPr i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Est Timeline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Days/Weeks/</a:t>
                      </a:r>
                      <a:endParaRPr i="1" sz="6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Months</a:t>
                      </a:r>
                      <a:endParaRPr i="1" sz="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Risk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/>
                        <a:t>High / Medium / Low</a:t>
                      </a:r>
                      <a:endParaRPr i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50"/>
          <p:cNvSpPr txBox="1"/>
          <p:nvPr/>
        </p:nvSpPr>
        <p:spPr>
          <a:xfrm>
            <a:off x="4395375" y="4008588"/>
            <a:ext cx="349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Any dependencies: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00FF"/>
                </a:solidFill>
              </a:rPr>
              <a:t>&lt;Short Summary&gt;</a:t>
            </a:r>
            <a:endParaRPr sz="700">
              <a:solidFill>
                <a:srgbClr val="004299"/>
              </a:solidFill>
            </a:endParaRPr>
          </a:p>
        </p:txBody>
      </p:sp>
      <p:sp>
        <p:nvSpPr>
          <p:cNvPr id="201" name="Google Shape;201;p50"/>
          <p:cNvSpPr txBox="1"/>
          <p:nvPr/>
        </p:nvSpPr>
        <p:spPr>
          <a:xfrm>
            <a:off x="4395375" y="1816638"/>
            <a:ext cx="191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Executive Summary of Solution: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00FF"/>
                </a:solidFill>
              </a:rPr>
              <a:t>&lt;Short Summary&gt;</a:t>
            </a:r>
            <a:endParaRPr sz="700">
              <a:solidFill>
                <a:srgbClr val="0000FF"/>
              </a:solidFill>
            </a:endParaRPr>
          </a:p>
        </p:txBody>
      </p:sp>
      <p:graphicFrame>
        <p:nvGraphicFramePr>
          <p:cNvPr id="202" name="Google Shape;202;p50"/>
          <p:cNvGraphicFramePr/>
          <p:nvPr/>
        </p:nvGraphicFramePr>
        <p:xfrm>
          <a:off x="653188" y="110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{70E296D8-46DA-4088-BFBC-BE9710407564}</a:tableStyleId>
              </a:tblPr>
              <a:tblGrid>
                <a:gridCol w="1169875"/>
                <a:gridCol w="704800"/>
                <a:gridCol w="1301900"/>
                <a:gridCol w="572850"/>
                <a:gridCol w="1402425"/>
                <a:gridCol w="993950"/>
                <a:gridCol w="566550"/>
                <a:gridCol w="786525"/>
              </a:tblGrid>
              <a:tr h="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FFFFFF"/>
                          </a:solidFill>
                        </a:rPr>
                        <a:t>Process Owner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Name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Business Analyst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Name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Providing Sign off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Name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Date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Name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50"/>
          <p:cNvSpPr/>
          <p:nvPr/>
        </p:nvSpPr>
        <p:spPr>
          <a:xfrm>
            <a:off x="3459575" y="1457263"/>
            <a:ext cx="4494000" cy="369300"/>
          </a:xfrm>
          <a:prstGeom prst="rect">
            <a:avLst/>
          </a:prstGeom>
          <a:solidFill>
            <a:srgbClr val="0042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To Be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04" name="Google Shape;204;p50"/>
          <p:cNvSpPr/>
          <p:nvPr/>
        </p:nvSpPr>
        <p:spPr>
          <a:xfrm rot="-5400000">
            <a:off x="1034900" y="1270163"/>
            <a:ext cx="3125650" cy="3492150"/>
          </a:xfrm>
          <a:prstGeom prst="flowChartOffpageConnector">
            <a:avLst/>
          </a:prstGeom>
          <a:solidFill>
            <a:srgbClr val="EFEFE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50"/>
          <p:cNvSpPr txBox="1"/>
          <p:nvPr/>
        </p:nvSpPr>
        <p:spPr>
          <a:xfrm>
            <a:off x="1276846" y="1513200"/>
            <a:ext cx="187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Current State</a:t>
            </a:r>
            <a:endParaRPr b="1" sz="1000"/>
          </a:p>
        </p:txBody>
      </p:sp>
      <p:sp>
        <p:nvSpPr>
          <p:cNvPr id="206" name="Google Shape;206;p50"/>
          <p:cNvSpPr txBox="1"/>
          <p:nvPr/>
        </p:nvSpPr>
        <p:spPr>
          <a:xfrm>
            <a:off x="989075" y="1855238"/>
            <a:ext cx="3003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Executive Summary of process: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&lt;Short summary&gt;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700">
                <a:solidFill>
                  <a:schemeClr val="dk1"/>
                </a:solidFill>
              </a:rPr>
              <a:t>Key Pain Points in the process:</a:t>
            </a:r>
            <a:endParaRPr b="1" i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&lt;Concise list&gt;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Process Key Performance Indicators (KPI)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Number of cases: </a:t>
            </a:r>
            <a:r>
              <a:rPr lang="en-GB" sz="700">
                <a:solidFill>
                  <a:srgbClr val="004299"/>
                </a:solidFill>
              </a:rPr>
              <a:t>&lt;Number&gt;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Time period:</a:t>
            </a:r>
            <a:r>
              <a:rPr lang="en-GB" sz="700">
                <a:solidFill>
                  <a:srgbClr val="004299"/>
                </a:solidFill>
              </a:rPr>
              <a:t> Min/Hr/Day/Week/Month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Average Time to complete a case:</a:t>
            </a:r>
            <a:r>
              <a:rPr lang="en-GB" sz="700">
                <a:solidFill>
                  <a:srgbClr val="004299"/>
                </a:solidFill>
              </a:rPr>
              <a:t> &lt;time&gt; in &lt;minutes / seconds / hrs, etc.&gt;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Complexity:</a:t>
            </a:r>
            <a:r>
              <a:rPr lang="en-GB" sz="700">
                <a:solidFill>
                  <a:srgbClr val="004299"/>
                </a:solidFill>
              </a:rPr>
              <a:t> High / Medium / Low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Number of People involved (FTE): </a:t>
            </a:r>
            <a:r>
              <a:rPr lang="en-GB" sz="700">
                <a:solidFill>
                  <a:srgbClr val="004299"/>
                </a:solidFill>
              </a:rPr>
              <a:t>&lt;Number of staff&gt;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07" name="Google Shape;207;p50"/>
          <p:cNvSpPr txBox="1"/>
          <p:nvPr/>
        </p:nvSpPr>
        <p:spPr>
          <a:xfrm>
            <a:off x="1016250" y="4008788"/>
            <a:ext cx="28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Any dependencies: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&lt;Short Summary&gt;</a:t>
            </a:r>
            <a:endParaRPr sz="700">
              <a:solidFill>
                <a:srgbClr val="0042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1"/>
          <p:cNvSpPr/>
          <p:nvPr/>
        </p:nvSpPr>
        <p:spPr>
          <a:xfrm>
            <a:off x="253200" y="289050"/>
            <a:ext cx="8637600" cy="45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51"/>
          <p:cNvSpPr txBox="1"/>
          <p:nvPr/>
        </p:nvSpPr>
        <p:spPr>
          <a:xfrm>
            <a:off x="387575" y="518875"/>
            <a:ext cx="8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500">
                <a:solidFill>
                  <a:schemeClr val="accent4"/>
                </a:solidFill>
              </a:rPr>
              <a:t>ID 1 | </a:t>
            </a:r>
            <a:r>
              <a:rPr b="1" lang="en-GB" sz="1500">
                <a:solidFill>
                  <a:schemeClr val="accent4"/>
                </a:solidFill>
              </a:rPr>
              <a:t>Automation of Invoice 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1"/>
          <p:cNvSpPr txBox="1"/>
          <p:nvPr/>
        </p:nvSpPr>
        <p:spPr>
          <a:xfrm>
            <a:off x="253200" y="4608150"/>
            <a:ext cx="100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GB" sz="1000">
                <a:solidFill>
                  <a:srgbClr val="AFAFAF"/>
                </a:solidFill>
                <a:latin typeface="Lato"/>
                <a:ea typeface="Lato"/>
                <a:cs typeface="Lato"/>
                <a:sym typeface="Lato"/>
              </a:rPr>
              <a:t>The AI Edge</a:t>
            </a:r>
            <a:r>
              <a:rPr b="1" i="1" lang="en-GB" sz="1000" u="none" cap="none" strike="noStrike">
                <a:solidFill>
                  <a:srgbClr val="AFAFAF"/>
                </a:solidFill>
                <a:latin typeface="Lato"/>
                <a:ea typeface="Lato"/>
                <a:cs typeface="Lato"/>
                <a:sym typeface="Lato"/>
              </a:rPr>
              <a:t>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1"/>
          <p:cNvSpPr txBox="1"/>
          <p:nvPr/>
        </p:nvSpPr>
        <p:spPr>
          <a:xfrm>
            <a:off x="387575" y="794650"/>
            <a:ext cx="8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i="1" lang="en-GB" sz="1100">
                <a:solidFill>
                  <a:srgbClr val="AFAFAF"/>
                </a:solidFill>
              </a:rPr>
              <a:t>Automating the current manual invoice processing workflow to reduce errors, improve efficiency, and enhance scalability.</a:t>
            </a:r>
            <a:endParaRPr i="1" sz="1100">
              <a:solidFill>
                <a:srgbClr val="AFAFAF"/>
              </a:solidFill>
            </a:endParaRPr>
          </a:p>
        </p:txBody>
      </p:sp>
      <p:sp>
        <p:nvSpPr>
          <p:cNvPr id="217" name="Google Shape;217;p51"/>
          <p:cNvSpPr txBox="1"/>
          <p:nvPr/>
        </p:nvSpPr>
        <p:spPr>
          <a:xfrm>
            <a:off x="7118800" y="518875"/>
            <a:ext cx="99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1" lang="en-GB" sz="1500">
                <a:solidFill>
                  <a:srgbClr val="8E8E8E"/>
                </a:solidFill>
              </a:rPr>
              <a:t>Example</a:t>
            </a:r>
            <a:endParaRPr b="1" i="1" sz="1500">
              <a:solidFill>
                <a:srgbClr val="8E8E8E"/>
              </a:solidFill>
            </a:endParaRPr>
          </a:p>
        </p:txBody>
      </p:sp>
      <p:pic>
        <p:nvPicPr>
          <p:cNvPr id="218" name="Google Shape;218;p51"/>
          <p:cNvPicPr preferRelativeResize="0"/>
          <p:nvPr/>
        </p:nvPicPr>
        <p:blipFill rotWithShape="1">
          <a:blip r:embed="rId4">
            <a:alphaModFix/>
          </a:blip>
          <a:srcRect b="11802" l="12221" r="12664" t="11809"/>
          <a:stretch/>
        </p:blipFill>
        <p:spPr>
          <a:xfrm>
            <a:off x="8166957" y="423425"/>
            <a:ext cx="590400" cy="60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9" name="Google Shape;219;p51"/>
          <p:cNvSpPr/>
          <p:nvPr/>
        </p:nvSpPr>
        <p:spPr>
          <a:xfrm>
            <a:off x="3459550" y="1453242"/>
            <a:ext cx="4494000" cy="3126000"/>
          </a:xfrm>
          <a:prstGeom prst="rect">
            <a:avLst/>
          </a:prstGeom>
          <a:solidFill>
            <a:srgbClr val="E8F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51"/>
          <p:cNvSpPr txBox="1"/>
          <p:nvPr/>
        </p:nvSpPr>
        <p:spPr>
          <a:xfrm>
            <a:off x="4395375" y="2704863"/>
            <a:ext cx="1916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700">
                <a:solidFill>
                  <a:schemeClr val="dk1"/>
                </a:solidFill>
              </a:rPr>
              <a:t>Changes Required:</a:t>
            </a:r>
            <a:endParaRPr b="1" i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C</a:t>
            </a:r>
            <a:r>
              <a:rPr lang="en-GB" sz="700">
                <a:solidFill>
                  <a:srgbClr val="004299"/>
                </a:solidFill>
              </a:rPr>
              <a:t>o</a:t>
            </a:r>
            <a:r>
              <a:rPr lang="en-GB" sz="700">
                <a:solidFill>
                  <a:srgbClr val="004299"/>
                </a:solidFill>
              </a:rPr>
              <a:t>nfigure and deploy RPA bot.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Train staff on bot exception handling.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Integrate with ERP system for seamless processing</a:t>
            </a:r>
            <a:endParaRPr sz="700">
              <a:solidFill>
                <a:srgbClr val="0042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42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Expected Benefits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Time Saving: </a:t>
            </a:r>
            <a:r>
              <a:rPr lang="en-GB" sz="700">
                <a:solidFill>
                  <a:srgbClr val="004299"/>
                </a:solidFill>
              </a:rPr>
              <a:t>10 min per invoice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Cost Saving: </a:t>
            </a:r>
            <a:r>
              <a:rPr lang="en-GB" sz="700">
                <a:solidFill>
                  <a:srgbClr val="004299"/>
                </a:solidFill>
              </a:rPr>
              <a:t>$20,000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FTE Equivalent: </a:t>
            </a:r>
            <a:r>
              <a:rPr lang="en-GB" sz="700">
                <a:solidFill>
                  <a:srgbClr val="0000FF"/>
                </a:solidFill>
              </a:rPr>
              <a:t>1 FTE</a:t>
            </a:r>
            <a:endParaRPr sz="700">
              <a:solidFill>
                <a:srgbClr val="0000FF"/>
              </a:solidFill>
            </a:endParaRPr>
          </a:p>
        </p:txBody>
      </p:sp>
      <p:graphicFrame>
        <p:nvGraphicFramePr>
          <p:cNvPr id="221" name="Google Shape;221;p51"/>
          <p:cNvGraphicFramePr/>
          <p:nvPr/>
        </p:nvGraphicFramePr>
        <p:xfrm>
          <a:off x="6363650" y="1857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{70E296D8-46DA-4088-BFBC-BE9710407564}</a:tableStyleId>
              </a:tblPr>
              <a:tblGrid>
                <a:gridCol w="632750"/>
                <a:gridCol w="896250"/>
              </a:tblGrid>
              <a:tr h="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700"/>
                        <a:t>Automation</a:t>
                      </a:r>
                      <a:endParaRPr i="1"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Feasibility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700"/>
                        <a:t>Medium</a:t>
                      </a:r>
                      <a:endParaRPr i="1"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Expected Benefits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Est Timeline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700">
                          <a:solidFill>
                            <a:schemeClr val="lt1"/>
                          </a:solidFill>
                        </a:rPr>
                        <a:t>Days/Weeks/</a:t>
                      </a:r>
                      <a:endParaRPr i="1" sz="7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700">
                          <a:solidFill>
                            <a:schemeClr val="lt1"/>
                          </a:solidFill>
                        </a:rPr>
                        <a:t>Months</a:t>
                      </a:r>
                      <a:endParaRPr i="1"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</a:rPr>
                        <a:t>Risk</a:t>
                      </a:r>
                      <a:endParaRPr b="1" sz="7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2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51"/>
          <p:cNvSpPr txBox="1"/>
          <p:nvPr/>
        </p:nvSpPr>
        <p:spPr>
          <a:xfrm>
            <a:off x="4395375" y="4008588"/>
            <a:ext cx="349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Any dependencies: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Finalisation of invoice processing rules for automation and Coordination with IT for ERP integration</a:t>
            </a:r>
            <a:endParaRPr sz="700">
              <a:solidFill>
                <a:srgbClr val="004299"/>
              </a:solidFill>
            </a:endParaRPr>
          </a:p>
        </p:txBody>
      </p:sp>
      <p:sp>
        <p:nvSpPr>
          <p:cNvPr id="223" name="Google Shape;223;p51"/>
          <p:cNvSpPr txBox="1"/>
          <p:nvPr/>
        </p:nvSpPr>
        <p:spPr>
          <a:xfrm>
            <a:off x="4395375" y="1816638"/>
            <a:ext cx="19167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Executive Summary of Solution: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Implement a Robotic Process Automation (RPA) bot to handle invoice data extraction, validation, and entry into the ERP system. The bot will streamline processing and reduce errors by leveraging pre-defined rules</a:t>
            </a:r>
            <a:endParaRPr sz="700"/>
          </a:p>
        </p:txBody>
      </p:sp>
      <p:graphicFrame>
        <p:nvGraphicFramePr>
          <p:cNvPr id="224" name="Google Shape;224;p51"/>
          <p:cNvGraphicFramePr/>
          <p:nvPr/>
        </p:nvGraphicFramePr>
        <p:xfrm>
          <a:off x="653188" y="110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{70E296D8-46DA-4088-BFBC-BE9710407564}</a:tableStyleId>
              </a:tblPr>
              <a:tblGrid>
                <a:gridCol w="1169875"/>
                <a:gridCol w="704800"/>
                <a:gridCol w="1301900"/>
                <a:gridCol w="572850"/>
                <a:gridCol w="1402425"/>
                <a:gridCol w="993950"/>
                <a:gridCol w="566550"/>
                <a:gridCol w="786525"/>
              </a:tblGrid>
              <a:tr h="4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FFFFFF"/>
                          </a:solidFill>
                        </a:rPr>
                        <a:t>Process Owner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Alex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Business Analyst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Fred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Providing Sign off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Jane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</a:rPr>
                        <a:t>Date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&lt;Today&gt;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51"/>
          <p:cNvSpPr/>
          <p:nvPr/>
        </p:nvSpPr>
        <p:spPr>
          <a:xfrm>
            <a:off x="3459575" y="1457263"/>
            <a:ext cx="4494000" cy="369300"/>
          </a:xfrm>
          <a:prstGeom prst="rect">
            <a:avLst/>
          </a:prstGeom>
          <a:solidFill>
            <a:srgbClr val="0042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To Be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226" name="Google Shape;226;p51"/>
          <p:cNvSpPr/>
          <p:nvPr/>
        </p:nvSpPr>
        <p:spPr>
          <a:xfrm rot="-5400000">
            <a:off x="1034900" y="1270163"/>
            <a:ext cx="3125650" cy="3492150"/>
          </a:xfrm>
          <a:prstGeom prst="flowChartOffpageConnector">
            <a:avLst/>
          </a:prstGeom>
          <a:solidFill>
            <a:srgbClr val="EFEFE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51"/>
          <p:cNvSpPr txBox="1"/>
          <p:nvPr/>
        </p:nvSpPr>
        <p:spPr>
          <a:xfrm>
            <a:off x="1276846" y="1513200"/>
            <a:ext cx="187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Current State</a:t>
            </a:r>
            <a:endParaRPr b="1" sz="1000"/>
          </a:p>
        </p:txBody>
      </p:sp>
      <p:sp>
        <p:nvSpPr>
          <p:cNvPr id="228" name="Google Shape;228;p51"/>
          <p:cNvSpPr txBox="1"/>
          <p:nvPr/>
        </p:nvSpPr>
        <p:spPr>
          <a:xfrm>
            <a:off x="989075" y="1855238"/>
            <a:ext cx="300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Executive Summary of process: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The current invoice processing workflow involves manual data entry and verification, resulting in frequent delays and errors. On average, invoices take two days to process, causing bottlenecks and late payments.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700">
                <a:solidFill>
                  <a:schemeClr val="dk1"/>
                </a:solidFill>
              </a:rPr>
              <a:t>Key Pain Points in the process:</a:t>
            </a:r>
            <a:endParaRPr b="1" i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High error rates due to manual data entry.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Delayed approvals resulting in late vendor payments.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4299"/>
              </a:buClr>
              <a:buSzPts val="700"/>
              <a:buChar char="●"/>
            </a:pPr>
            <a:r>
              <a:rPr lang="en-GB" sz="700">
                <a:solidFill>
                  <a:srgbClr val="004299"/>
                </a:solidFill>
              </a:rPr>
              <a:t>High workload for finance staff, reducing time for strategic tasks.</a:t>
            </a:r>
            <a:endParaRPr sz="700">
              <a:solidFill>
                <a:srgbClr val="0042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Process Key Performance Indicators (KPI)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Number of cases: </a:t>
            </a:r>
            <a:r>
              <a:rPr lang="en-GB" sz="700">
                <a:solidFill>
                  <a:srgbClr val="004299"/>
                </a:solidFill>
              </a:rPr>
              <a:t>300 invoices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Time period:</a:t>
            </a:r>
            <a:r>
              <a:rPr lang="en-GB" sz="700">
                <a:solidFill>
                  <a:srgbClr val="004299"/>
                </a:solidFill>
              </a:rPr>
              <a:t> </a:t>
            </a:r>
            <a:r>
              <a:rPr lang="en-GB" sz="700">
                <a:solidFill>
                  <a:srgbClr val="004299"/>
                </a:solidFill>
              </a:rPr>
              <a:t>per month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Average Time to complete a case:</a:t>
            </a:r>
            <a:r>
              <a:rPr lang="en-GB" sz="700">
                <a:solidFill>
                  <a:srgbClr val="004299"/>
                </a:solidFill>
              </a:rPr>
              <a:t> </a:t>
            </a:r>
            <a:r>
              <a:rPr lang="en-GB" sz="700">
                <a:solidFill>
                  <a:srgbClr val="004299"/>
                </a:solidFill>
              </a:rPr>
              <a:t>15 minutes per invoice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Complexity:</a:t>
            </a:r>
            <a:r>
              <a:rPr lang="en-GB" sz="700">
                <a:solidFill>
                  <a:srgbClr val="004299"/>
                </a:solidFill>
              </a:rPr>
              <a:t> </a:t>
            </a:r>
            <a:r>
              <a:rPr lang="en-GB" sz="700">
                <a:solidFill>
                  <a:srgbClr val="004299"/>
                </a:solidFill>
              </a:rPr>
              <a:t>Medium</a:t>
            </a:r>
            <a:endParaRPr sz="700">
              <a:solidFill>
                <a:srgbClr val="00429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GB" sz="700">
                <a:solidFill>
                  <a:schemeClr val="dk1"/>
                </a:solidFill>
              </a:rPr>
              <a:t>Number of People involved (FTE): </a:t>
            </a:r>
            <a:r>
              <a:rPr lang="en-GB" sz="700">
                <a:solidFill>
                  <a:srgbClr val="004299"/>
                </a:solidFill>
              </a:rPr>
              <a:t>3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29" name="Google Shape;229;p51"/>
          <p:cNvSpPr txBox="1"/>
          <p:nvPr/>
        </p:nvSpPr>
        <p:spPr>
          <a:xfrm>
            <a:off x="1016250" y="4008788"/>
            <a:ext cx="287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</a:rPr>
              <a:t>Any dependencies: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04299"/>
                </a:solidFill>
              </a:rPr>
              <a:t>Dependency on vendor-provided invoice formats and Integration with the existing ERP system.</a:t>
            </a:r>
            <a:endParaRPr sz="700">
              <a:solidFill>
                <a:srgbClr val="0042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plate_1">
      <a:dk1>
        <a:srgbClr val="393939"/>
      </a:dk1>
      <a:lt1>
        <a:srgbClr val="000000"/>
      </a:lt1>
      <a:dk2>
        <a:srgbClr val="393939"/>
      </a:dk2>
      <a:lt2>
        <a:srgbClr val="000000"/>
      </a:lt2>
      <a:accent1>
        <a:srgbClr val="393939"/>
      </a:accent1>
      <a:accent2>
        <a:srgbClr val="346477"/>
      </a:accent2>
      <a:accent3>
        <a:srgbClr val="308FB5"/>
      </a:accent3>
      <a:accent4>
        <a:srgbClr val="2CBBF4"/>
      </a:accent4>
      <a:accent5>
        <a:srgbClr val="000000"/>
      </a:accent5>
      <a:accent6>
        <a:srgbClr val="000000"/>
      </a:accent6>
      <a:hlink>
        <a:srgbClr val="2CBBF4"/>
      </a:hlink>
      <a:folHlink>
        <a:srgbClr val="308F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